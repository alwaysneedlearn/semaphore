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3A6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Semaphore 设备管理平台  —  项目进展汇报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0584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  <a:latin typeface="Calibri"/>
              </a:rPr>
              <a:t>Go Backend + Vue.js 2 Frontend  ·  Ansible Playbooks (WinRM)  ·  TDengine 时序数据  ·  7 设备类型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22960"/>
            <a:ext cx="5848959" cy="256032"/>
          </a:xfrm>
          <a:prstGeom prst="rect">
            <a:avLst/>
          </a:prstGeom>
          <a:solidFill>
            <a:srgbClr val="275EA6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841248"/>
            <a:ext cx="5666079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🏗  平台架构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106424"/>
            <a:ext cx="5848959" cy="2624328"/>
          </a:xfrm>
          <a:prstGeom prst="rect">
            <a:avLst/>
          </a:prstGeom>
          <a:solidFill>
            <a:srgbClr val="F5F8FC"/>
          </a:solidFill>
          <a:ln w="5080">
            <a:solidFill>
              <a:srgbClr val="C0D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143000"/>
            <a:ext cx="658368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1E7EC8"/>
                </a:solidFill>
                <a:latin typeface="Calibri"/>
              </a:rPr>
              <a:t>后端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143000"/>
            <a:ext cx="4971135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Go 1.24 · 单二进制 ./bin/semaphore · SQLite / MySQL /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545336"/>
            <a:ext cx="658368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1E7EC8"/>
                </a:solidFill>
                <a:latin typeface="Calibri"/>
              </a:rPr>
              <a:t>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545336"/>
            <a:ext cx="4971135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Vue.js 2 + Vuetify · 资源嵌入二进制 · WebSocket 实时推送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1947672"/>
            <a:ext cx="658368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1E7EC8"/>
                </a:solidFill>
                <a:latin typeface="Calibri"/>
              </a:rPr>
              <a:t>Playbook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47672"/>
            <a:ext cx="4971135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Ansible WinRM · strategy: free · forks=50 · 7 设备类型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2350008"/>
            <a:ext cx="658368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1E7EC8"/>
                </a:solidFill>
                <a:latin typeface="Calibri"/>
              </a:rPr>
              <a:t>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350008"/>
            <a:ext cx="4971135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TDengine 时序通道数据 · channel_freshness 新鲜度门禁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2752344"/>
            <a:ext cx="658368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1E7EC8"/>
                </a:solidFill>
                <a:latin typeface="Calibri"/>
              </a:rPr>
              <a:t>调度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752344"/>
            <a:ext cx="4971135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Semaphore Schedules 定时巡检 · Patrol All · Probe TCP 探测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3154680"/>
            <a:ext cx="658368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1" i="0">
                <a:solidFill>
                  <a:srgbClr val="1E7EC8"/>
                </a:solidFill>
                <a:latin typeface="Calibri"/>
              </a:rPr>
              <a:t>构建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154680"/>
            <a:ext cx="4971135" cy="32918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go-task (Taskfile.yml)  · task build:fe → task build:be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8143" y="822960"/>
            <a:ext cx="5848959" cy="256032"/>
          </a:xfrm>
          <a:prstGeom prst="rect">
            <a:avLst/>
          </a:prstGeom>
          <a:solidFill>
            <a:srgbClr val="275EA6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9583" y="841248"/>
            <a:ext cx="5666079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📋  设备类型覆盖（7 类）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178143" y="1106424"/>
          <a:ext cx="4828032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932688"/>
                <a:gridCol w="1170432"/>
                <a:gridCol w="1051560"/>
                <a:gridCol w="896112"/>
              </a:tblGrid>
              <a:tr h="328041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设备类型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管控对象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状态检测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启停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数据重传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</a:tr>
              <a:tr h="328041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NEWARE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uu.exe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进程 + API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8A4A"/>
                          </a:solidFill>
                          <a:latin typeface="Calibri"/>
                        </a:rPr>
                        <a:t>✓ 杀 / 任务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—（INI）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8041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LAND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LHBTS.exe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3A6B"/>
                          </a:solidFill>
                          <a:latin typeface="Calibri"/>
                        </a:rPr>
                        <a:t>QueryStatus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8A4A"/>
                          </a:solidFill>
                          <a:latin typeface="Calibri"/>
                        </a:rPr>
                        <a:t>✓ 优雅 / 任务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Redeliver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28041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LANH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ccsmon.exe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3A6B"/>
                          </a:solidFill>
                          <a:latin typeface="Calibri"/>
                        </a:rPr>
                        <a:t>QueryStatus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Ensure 启动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Redeliver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8041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SINEXCEL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agent.exe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3A6B"/>
                          </a:solidFill>
                          <a:latin typeface="Calibri"/>
                        </a:rPr>
                        <a:t>QueryConfig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8A4A"/>
                          </a:solidFill>
                          <a:latin typeface="Calibri"/>
                        </a:rPr>
                        <a:t>✓ 强杀 / 任务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Retransmit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28041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NBT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Win 服务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服务 + 心跳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8A4A"/>
                          </a:solidFill>
                          <a:latin typeface="Calibri"/>
                        </a:rPr>
                        <a:t>✓ 服务控制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ResetData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28041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DAHUA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lims-hist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CLI 重发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28041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JHAI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HTTP agent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API 心跳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8A4A"/>
                          </a:solidFill>
                          <a:latin typeface="Calibri"/>
                        </a:rPr>
                        <a:t>✓ 优雅 / 任务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750" b="0">
                          <a:solidFill>
                            <a:srgbClr val="1A1A2E"/>
                          </a:solidFill>
                          <a:latin typeface="Calibri"/>
                        </a:rPr>
                        <a:t>API Resend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64592" y="3685032"/>
            <a:ext cx="5848959" cy="256032"/>
          </a:xfrm>
          <a:prstGeom prst="rect">
            <a:avLst/>
          </a:prstGeom>
          <a:solidFill>
            <a:srgbClr val="275EA6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3703320"/>
            <a:ext cx="5666079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🔧  核心能力矩阵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64592" y="3968496"/>
          <a:ext cx="5848955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05199"/>
                <a:gridCol w="1005199"/>
                <a:gridCol w="1005199"/>
                <a:gridCol w="1005199"/>
                <a:gridCol w="1005199"/>
              </a:tblGrid>
              <a:tr h="292608"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Patrol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Stop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Restart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Redeploy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Resend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</a:tr>
              <a:tr h="292608"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NEWARE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55657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292608"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LAND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292608"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LANH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55657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55657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55657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292608"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SINEXCEL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292608"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NBT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292608"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DAHUA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55657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55657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55657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55657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292608"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JHAI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ctr"/>
                      <a:r>
                        <a:rPr sz="850" b="0">
                          <a:solidFill>
                            <a:srgbClr val="1A8A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6178143" y="3685032"/>
            <a:ext cx="5848959" cy="256032"/>
          </a:xfrm>
          <a:prstGeom prst="rect">
            <a:avLst/>
          </a:prstGeom>
          <a:solidFill>
            <a:srgbClr val="275EA6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9583" y="3703320"/>
            <a:ext cx="5666079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🚀  近期关键改进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178143" y="3968496"/>
          <a:ext cx="5848959" cy="2340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4157319"/>
              </a:tblGrid>
              <a:tr h="334409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标题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说明</a:t>
                      </a:r>
                    </a:p>
                  </a:txBody>
                  <a:tcPr>
                    <a:solidFill>
                      <a:srgbClr val="275EA6"/>
                    </a:solidFill>
                  </a:tcPr>
                </a:tc>
              </a:tr>
              <a:tr h="334409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1">
                          <a:solidFill>
                            <a:srgbClr val="1A3A6B"/>
                          </a:solidFill>
                          <a:latin typeface="Calibri"/>
                        </a:rPr>
                        <a:t>strategy: free · forks=50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Calibri"/>
                        </a:rPr>
                        <a:t>批量并行化，单台 WinRM 挂起不再阻塞整批设备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34409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1">
                          <a:solidFill>
                            <a:srgbClr val="1A3A6B"/>
                          </a:solidFill>
                          <a:latin typeface="Calibri"/>
                        </a:rPr>
                        <a:t>LANH QueryStatus API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Calibri"/>
                        </a:rPr>
                        <a:t>Patrol / check_restart 接入 SyncLims，与 LAND 同流程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34409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1">
                          <a:solidFill>
                            <a:srgbClr val="1A3A6B"/>
                          </a:solidFill>
                          <a:latin typeface="Calibri"/>
                        </a:rPr>
                        <a:t>任务日志新标签页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Calibri"/>
                        </a:rPr>
                        <a:t>点击任务链接在新浏览器标签页打开，不遮挡设备列表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34409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1">
                          <a:solidFill>
                            <a:srgbClr val="1A3A6B"/>
                          </a:solidFill>
                          <a:latin typeface="Calibri"/>
                        </a:rPr>
                        <a:t>DAHUA -mtime-prefilter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Calibri"/>
                        </a:rPr>
                        <a:t>lims-hist 默认追加，大幅提升重发扫描效率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34409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1">
                          <a:solidFill>
                            <a:srgbClr val="1A3A6B"/>
                          </a:solidFill>
                          <a:latin typeface="Calibri"/>
                        </a:rPr>
                        <a:t>Kafka TCP 超时修复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Calibri"/>
                        </a:rPr>
                        <a:t>NEWARE 探测超时从数小时缩至秒级，不再阻塞 check_restart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34409"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1">
                          <a:solidFill>
                            <a:srgbClr val="1A3A6B"/>
                          </a:solidFill>
                          <a:latin typeface="Calibri"/>
                        </a:rPr>
                        <a:t>WinRM Top 5 进程诊断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 wrap="none" lIns="38100" rIns="38100" tIns="25400" bIns="25400"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Calibri"/>
                        </a:rPr>
                        <a:t>内置 CPU / 内存占用 Top 5，辅助现场排障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3A6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83680"/>
            <a:ext cx="11643055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850" b="0" i="0">
                <a:solidFill>
                  <a:srgbClr val="D6E4F7"/>
                </a:solidFill>
                <a:latin typeface="Calibri"/>
              </a:rPr>
              <a:t>30 Playbooks  ·  38 Shared Tasks  ·  9 PowerShell Helpers  ·  7 设备类型  ·  develop 分支稳定  ·  2026-08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