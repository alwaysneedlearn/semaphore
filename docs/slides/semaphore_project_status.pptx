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A3A6B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11430000" cy="38404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Semaphore 设备管理平台  —  项目进展汇报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950" b="0" i="0">
                <a:solidFill>
                  <a:srgbClr val="D6E4F7"/>
                </a:solidFill>
                <a:latin typeface="Calibri"/>
              </a:rPr>
              <a:t>相对原始 Semaphore 的二次开发  ·  Go + Vue.js 2  ·  Ansible WinRM  ·  设备列表：巡检 / 重发 / 重启 / 重部署</a:t>
            </a:r>
          </a:p>
        </p:txBody>
      </p:sp>
      <p:sp>
        <p:nvSpPr>
          <p:cNvPr id="5" name="Rectangle 4"/>
          <p:cNvSpPr/>
          <p:nvPr/>
        </p:nvSpPr>
        <p:spPr>
          <a:xfrm>
            <a:off x="164592" y="822960"/>
            <a:ext cx="5848959" cy="256032"/>
          </a:xfrm>
          <a:prstGeom prst="rect">
            <a:avLst/>
          </a:prstGeom>
          <a:solidFill>
            <a:srgbClr val="275EA6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841248"/>
            <a:ext cx="5666079" cy="21945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平台架构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1106424"/>
            <a:ext cx="5848959" cy="2487168"/>
          </a:xfrm>
          <a:prstGeom prst="rect">
            <a:avLst/>
          </a:prstGeom>
          <a:solidFill>
            <a:srgbClr val="F5F8FC"/>
          </a:solidFill>
          <a:ln w="5080">
            <a:solidFill>
              <a:srgbClr val="C0D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143000"/>
            <a:ext cx="713232" cy="32918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850" b="1" i="0">
                <a:solidFill>
                  <a:srgbClr val="1E7EC8"/>
                </a:solidFill>
                <a:latin typeface="Calibri"/>
              </a:rPr>
              <a:t>后端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1143000"/>
            <a:ext cx="4897983" cy="32918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Go 1.24 · 单二进制 ./bin/semaphore · SQLite / MySQL / PostgreSQL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" y="1536192"/>
            <a:ext cx="713232" cy="32918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850" b="1" i="0">
                <a:solidFill>
                  <a:srgbClr val="1E7EC8"/>
                </a:solidFill>
                <a:latin typeface="Calibri"/>
              </a:rPr>
              <a:t>前端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1536192"/>
            <a:ext cx="4897983" cy="32918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Vue.js 2 + Vuetify · 资源嵌入二进制 · WebSocket 实时推送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" y="1929384"/>
            <a:ext cx="713232" cy="32918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850" b="1" i="0">
                <a:solidFill>
                  <a:srgbClr val="1E7EC8"/>
                </a:solidFill>
                <a:latin typeface="Calibri"/>
              </a:rPr>
              <a:t>Playbook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1929384"/>
            <a:ext cx="4897983" cy="32918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Ansible WinRM · strategy: free · forks=50 · 7 设备类型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2322576"/>
            <a:ext cx="713232" cy="32918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850" b="1" i="0">
                <a:solidFill>
                  <a:srgbClr val="1E7EC8"/>
                </a:solidFill>
                <a:latin typeface="Calibri"/>
              </a:rPr>
              <a:t>数据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322576"/>
            <a:ext cx="4897983" cy="32918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TDengine 时序通道数据 · channel_freshness 新鲜度门禁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" y="2715768"/>
            <a:ext cx="713232" cy="32918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850" b="1" i="0">
                <a:solidFill>
                  <a:srgbClr val="1E7EC8"/>
                </a:solidFill>
                <a:latin typeface="Calibri"/>
              </a:rPr>
              <a:t>调度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2715768"/>
            <a:ext cx="4897983" cy="32918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Semaphore Schedules 定时巡检重启 · Patrol All · Probe TCP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" y="3108960"/>
            <a:ext cx="713232" cy="32918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850" b="1" i="0">
                <a:solidFill>
                  <a:srgbClr val="1E7EC8"/>
                </a:solidFill>
                <a:latin typeface="Calibri"/>
              </a:rPr>
              <a:t>构建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3108960"/>
            <a:ext cx="4897983" cy="32918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go-task (Taskfile.yml)  · task build:fe → task build:be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8143" y="822960"/>
            <a:ext cx="5848959" cy="256032"/>
          </a:xfrm>
          <a:prstGeom prst="rect">
            <a:avLst/>
          </a:prstGeom>
          <a:solidFill>
            <a:srgbClr val="275EA6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9583" y="841248"/>
            <a:ext cx="5666079" cy="21945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二次开发重点增加的能力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178143" y="1106424"/>
          <a:ext cx="5848959" cy="24871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2768"/>
                <a:gridCol w="4276191"/>
              </a:tblGrid>
              <a:tr h="355309">
                <a:tc>
                  <a:txBody>
                    <a:bodyPr wrap="square" lIns="50800" rIns="50800" tIns="25400" bIns="25400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能力</a:t>
                      </a:r>
                    </a:p>
                  </a:txBody>
                  <a:tcPr>
                    <a:solidFill>
                      <a:srgbClr val="275EA6"/>
                    </a:solidFill>
                  </a:tcPr>
                </a:tc>
                <a:tc>
                  <a:txBody>
                    <a:bodyPr wrap="square" lIns="50800" rIns="50800" tIns="25400" bIns="25400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相对原始 Semaphore 新增</a:t>
                      </a:r>
                    </a:p>
                  </a:txBody>
                  <a:tcPr>
                    <a:solidFill>
                      <a:srgbClr val="275EA6"/>
                    </a:solidFill>
                  </a:tcPr>
                </a:tc>
              </a:tr>
              <a:tr h="355309">
                <a:tc>
                  <a:txBody>
                    <a:bodyPr wrap="square" lIns="50800" rIns="50800" tIns="25400" bIns="25400"/>
                    <a:lstStyle/>
                    <a:p>
                      <a:pPr algn="l"/>
                      <a:r>
                        <a:rPr sz="800" b="1">
                          <a:solidFill>
                            <a:srgbClr val="1A3A6B"/>
                          </a:solidFill>
                          <a:latin typeface="Calibri"/>
                        </a:rPr>
                        <a:t>设备管理体系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square" lIns="50800" rIns="50800" tIns="25400" bIns="25400"/>
                    <a:lstStyle/>
                    <a:p>
                      <a:pPr algn="l"/>
                      <a:r>
                        <a:rPr sz="800" b="0">
                          <a:solidFill>
                            <a:srgbClr val="1A1A2E"/>
                          </a:solidFill>
                          <a:latin typeface="Calibri"/>
                        </a:rPr>
                        <a:t>设备列表、设备类型、Discovery 扫描导入、Probe、批量操作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355309">
                <a:tc>
                  <a:txBody>
                    <a:bodyPr wrap="square" lIns="50800" rIns="50800" tIns="25400" bIns="25400"/>
                    <a:lstStyle/>
                    <a:p>
                      <a:pPr algn="l"/>
                      <a:r>
                        <a:rPr sz="800" b="1">
                          <a:solidFill>
                            <a:srgbClr val="1A3A6B"/>
                          </a:solidFill>
                          <a:latin typeface="Calibri"/>
                        </a:rPr>
                        <a:t>Playbook 运维闭环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square" lIns="50800" rIns="50800" tIns="25400" bIns="25400"/>
                    <a:lstStyle/>
                    <a:p>
                      <a:pPr algn="l"/>
                      <a:r>
                        <a:rPr sz="800" b="0">
                          <a:solidFill>
                            <a:srgbClr val="1A1A2E"/>
                          </a:solidFill>
                          <a:latin typeface="Calibri"/>
                        </a:rPr>
                        <a:t>按类型绑定巡检 / 重发 / 重启 / 重部署模板并远程执行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</a:tr>
              <a:tr h="355309">
                <a:tc>
                  <a:txBody>
                    <a:bodyPr wrap="square" lIns="50800" rIns="50800" tIns="25400" bIns="25400"/>
                    <a:lstStyle/>
                    <a:p>
                      <a:pPr algn="l"/>
                      <a:r>
                        <a:rPr sz="800" b="1">
                          <a:solidFill>
                            <a:srgbClr val="1A3A6B"/>
                          </a:solidFill>
                          <a:latin typeface="Calibri"/>
                        </a:rPr>
                        <a:t>设备状态回写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square" lIns="50800" rIns="50800" tIns="25400" bIns="25400"/>
                    <a:lstStyle/>
                    <a:p>
                      <a:pPr algn="l"/>
                      <a:r>
                        <a:rPr sz="800" b="0">
                          <a:solidFill>
                            <a:srgbClr val="1A1A2E"/>
                          </a:solidFill>
                          <a:latin typeface="Calibri"/>
                        </a:rPr>
                        <a:t>playbook bulk callback 回写 device_status / WinRM / API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355309">
                <a:tc>
                  <a:txBody>
                    <a:bodyPr wrap="square" lIns="50800" rIns="50800" tIns="25400" bIns="25400"/>
                    <a:lstStyle/>
                    <a:p>
                      <a:pPr algn="l"/>
                      <a:r>
                        <a:rPr sz="800" b="1">
                          <a:solidFill>
                            <a:srgbClr val="1A3A6B"/>
                          </a:solidFill>
                          <a:latin typeface="Calibri"/>
                        </a:rPr>
                        <a:t>TDengine 通道监控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square" lIns="50800" rIns="50800" tIns="25400" bIns="25400"/>
                    <a:lstStyle/>
                    <a:p>
                      <a:pPr algn="l"/>
                      <a:r>
                        <a:rPr sz="800" b="0">
                          <a:solidFill>
                            <a:srgbClr val="1A1A2E"/>
                          </a:solidFill>
                          <a:latin typeface="Calibri"/>
                        </a:rPr>
                        <a:t>时序状态快照；check_restart 先看通道新鲜度再决定重启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</a:tr>
              <a:tr h="355309">
                <a:tc>
                  <a:txBody>
                    <a:bodyPr wrap="square" lIns="50800" rIns="50800" tIns="25400" bIns="25400"/>
                    <a:lstStyle/>
                    <a:p>
                      <a:pPr algn="l"/>
                      <a:r>
                        <a:rPr sz="800" b="1">
                          <a:solidFill>
                            <a:srgbClr val="1A3A6B"/>
                          </a:solidFill>
                          <a:latin typeface="Calibri"/>
                        </a:rPr>
                        <a:t>RDP Helper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square" lIns="50800" rIns="50800" tIns="25400" bIns="25400"/>
                    <a:lstStyle/>
                    <a:p>
                      <a:pPr algn="l"/>
                      <a:r>
                        <a:rPr sz="800" b="0">
                          <a:solidFill>
                            <a:srgbClr val="1A1A2E"/>
                          </a:solidFill>
                          <a:latin typeface="Calibri"/>
                        </a:rPr>
                        <a:t>Web 唤起本机 mstsc 远程桌面，含启动/结束审计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355309">
                <a:tc>
                  <a:txBody>
                    <a:bodyPr wrap="square" lIns="50800" rIns="50800" tIns="25400" bIns="25400"/>
                    <a:lstStyle/>
                    <a:p>
                      <a:pPr algn="l"/>
                      <a:r>
                        <a:rPr sz="800" b="1">
                          <a:solidFill>
                            <a:srgbClr val="1A3A6B"/>
                          </a:solidFill>
                          <a:latin typeface="Calibri"/>
                        </a:rPr>
                        <a:t>任务日志独立页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square" lIns="50800" rIns="50800" tIns="25400" bIns="25400"/>
                    <a:lstStyle/>
                    <a:p>
                      <a:pPr algn="l"/>
                      <a:r>
                        <a:rPr sz="800" b="0">
                          <a:solidFill>
                            <a:srgbClr val="1A1A2E"/>
                          </a:solidFill>
                          <a:latin typeface="Calibri"/>
                        </a:rPr>
                        <a:t>任务日志新标签页打开，不遮挡设备列表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64592" y="3611880"/>
            <a:ext cx="11862511" cy="256032"/>
          </a:xfrm>
          <a:prstGeom prst="rect">
            <a:avLst/>
          </a:prstGeom>
          <a:solidFill>
            <a:srgbClr val="275EA6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032" y="3630168"/>
            <a:ext cx="11679631" cy="21945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设备类型覆盖与核心能力矩阵（7 类）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64592" y="3895344"/>
          <a:ext cx="11862511" cy="2542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8992"/>
                <a:gridCol w="1207008"/>
                <a:gridCol w="1417320"/>
                <a:gridCol w="804672"/>
                <a:gridCol w="804672"/>
                <a:gridCol w="896112"/>
                <a:gridCol w="804672"/>
                <a:gridCol w="4849063"/>
              </a:tblGrid>
              <a:tr h="317754">
                <a:tc>
                  <a:txBody>
                    <a:bodyPr wrap="none" lIns="50800" rIns="50800" tIns="25400" bIns="25400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设备类型</a:t>
                      </a:r>
                    </a:p>
                  </a:txBody>
                  <a:tcPr>
                    <a:solidFill>
                      <a:srgbClr val="275EA6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管控对象</a:t>
                      </a:r>
                    </a:p>
                  </a:txBody>
                  <a:tcPr>
                    <a:solidFill>
                      <a:srgbClr val="275EA6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状态检测</a:t>
                      </a:r>
                    </a:p>
                  </a:txBody>
                  <a:tcPr>
                    <a:solidFill>
                      <a:srgbClr val="275EA6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巡检</a:t>
                      </a:r>
                    </a:p>
                  </a:txBody>
                  <a:tcPr>
                    <a:solidFill>
                      <a:srgbClr val="275EA6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重启</a:t>
                      </a:r>
                    </a:p>
                  </a:txBody>
                  <a:tcPr>
                    <a:solidFill>
                      <a:srgbClr val="275EA6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重部署</a:t>
                      </a:r>
                    </a:p>
                  </a:txBody>
                  <a:tcPr>
                    <a:solidFill>
                      <a:srgbClr val="275EA6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重发</a:t>
                      </a:r>
                    </a:p>
                  </a:txBody>
                  <a:tcPr>
                    <a:solidFill>
                      <a:srgbClr val="275EA6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重传方式</a:t>
                      </a:r>
                    </a:p>
                  </a:txBody>
                  <a:tcPr>
                    <a:solidFill>
                      <a:srgbClr val="275EA6"/>
                    </a:solidFill>
                  </a:tcPr>
                </a:tc>
              </a:tr>
              <a:tr h="317754">
                <a:tc>
                  <a:txBody>
                    <a:bodyPr wrap="none" lIns="50800" rIns="50800" tIns="25400" bIns="25400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NEWARE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l"/>
                      <a:r>
                        <a:rPr sz="850" b="0">
                          <a:solidFill>
                            <a:srgbClr val="1A1A2E"/>
                          </a:solidFill>
                          <a:latin typeface="Calibri"/>
                        </a:rPr>
                        <a:t>uu.exe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l"/>
                      <a:r>
                        <a:rPr sz="850" b="0">
                          <a:solidFill>
                            <a:srgbClr val="1A1A2E"/>
                          </a:solidFill>
                          <a:latin typeface="Calibri"/>
                        </a:rPr>
                        <a:t>进程 + API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55657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l"/>
                      <a:r>
                        <a:rPr sz="850" b="0">
                          <a:solidFill>
                            <a:srgbClr val="1A1A2E"/>
                          </a:solidFill>
                          <a:latin typeface="Calibri"/>
                        </a:rPr>
                        <a:t>配置字段（INI）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317754">
                <a:tc>
                  <a:txBody>
                    <a:bodyPr wrap="none" lIns="50800" rIns="50800" tIns="25400" bIns="25400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LAND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l"/>
                      <a:r>
                        <a:rPr sz="850" b="0">
                          <a:solidFill>
                            <a:srgbClr val="1A1A2E"/>
                          </a:solidFill>
                          <a:latin typeface="Calibri"/>
                        </a:rPr>
                        <a:t>LHBTS.exe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l"/>
                      <a:r>
                        <a:rPr sz="850" b="0">
                          <a:solidFill>
                            <a:srgbClr val="1A3A6B"/>
                          </a:solidFill>
                          <a:latin typeface="Calibri"/>
                        </a:rPr>
                        <a:t>QueryStatus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l"/>
                      <a:r>
                        <a:rPr sz="850" b="0">
                          <a:solidFill>
                            <a:srgbClr val="1A1A2E"/>
                          </a:solidFill>
                          <a:latin typeface="Calibri"/>
                        </a:rPr>
                        <a:t>Redeliver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</a:tr>
              <a:tr h="317754">
                <a:tc>
                  <a:txBody>
                    <a:bodyPr wrap="none" lIns="50800" rIns="50800" tIns="25400" bIns="25400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LANH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l"/>
                      <a:r>
                        <a:rPr sz="850" b="0">
                          <a:solidFill>
                            <a:srgbClr val="1A1A2E"/>
                          </a:solidFill>
                          <a:latin typeface="Calibri"/>
                        </a:rPr>
                        <a:t>ccsmon.exe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l"/>
                      <a:r>
                        <a:rPr sz="850" b="0">
                          <a:solidFill>
                            <a:srgbClr val="1A3A6B"/>
                          </a:solidFill>
                          <a:latin typeface="Calibri"/>
                        </a:rPr>
                        <a:t>QueryStatus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55657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55657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l"/>
                      <a:r>
                        <a:rPr sz="850" b="0">
                          <a:solidFill>
                            <a:srgbClr val="1A1A2E"/>
                          </a:solidFill>
                          <a:latin typeface="Calibri"/>
                        </a:rPr>
                        <a:t>Redeliver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317754">
                <a:tc>
                  <a:txBody>
                    <a:bodyPr wrap="none" lIns="50800" rIns="50800" tIns="25400" bIns="25400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SINEXCEL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l"/>
                      <a:r>
                        <a:rPr sz="850" b="0">
                          <a:solidFill>
                            <a:srgbClr val="1A1A2E"/>
                          </a:solidFill>
                          <a:latin typeface="Calibri"/>
                        </a:rPr>
                        <a:t>agent.exe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l"/>
                      <a:r>
                        <a:rPr sz="850" b="0">
                          <a:solidFill>
                            <a:srgbClr val="1A3A6B"/>
                          </a:solidFill>
                          <a:latin typeface="Calibri"/>
                        </a:rPr>
                        <a:t>QueryConfig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l"/>
                      <a:r>
                        <a:rPr sz="850" b="0">
                          <a:solidFill>
                            <a:srgbClr val="1A1A2E"/>
                          </a:solidFill>
                          <a:latin typeface="Calibri"/>
                        </a:rPr>
                        <a:t>Retransmit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</a:tr>
              <a:tr h="317754">
                <a:tc>
                  <a:txBody>
                    <a:bodyPr wrap="none" lIns="50800" rIns="50800" tIns="25400" bIns="25400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NBT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l"/>
                      <a:r>
                        <a:rPr sz="850" b="0">
                          <a:solidFill>
                            <a:srgbClr val="1A1A2E"/>
                          </a:solidFill>
                          <a:latin typeface="Calibri"/>
                        </a:rPr>
                        <a:t>Win 服务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l"/>
                      <a:r>
                        <a:rPr sz="850" b="0">
                          <a:solidFill>
                            <a:srgbClr val="1A1A2E"/>
                          </a:solidFill>
                          <a:latin typeface="Calibri"/>
                        </a:rPr>
                        <a:t>服务 + 心跳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l"/>
                      <a:r>
                        <a:rPr sz="850" b="0">
                          <a:solidFill>
                            <a:srgbClr val="1A1A2E"/>
                          </a:solidFill>
                          <a:latin typeface="Calibri"/>
                        </a:rPr>
                        <a:t>ResetData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317754">
                <a:tc>
                  <a:txBody>
                    <a:bodyPr wrap="none" lIns="50800" rIns="50800" tIns="25400" bIns="25400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DAHUA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l"/>
                      <a:r>
                        <a:rPr sz="850" b="0">
                          <a:solidFill>
                            <a:srgbClr val="1A1A2E"/>
                          </a:solidFill>
                          <a:latin typeface="Calibri"/>
                        </a:rPr>
                        <a:t>lims-hist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l"/>
                      <a:r>
                        <a:rPr sz="850" b="0">
                          <a:solidFill>
                            <a:srgbClr val="55657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55657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55657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55657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l"/>
                      <a:r>
                        <a:rPr sz="850" b="0">
                          <a:solidFill>
                            <a:srgbClr val="1A1A2E"/>
                          </a:solidFill>
                          <a:latin typeface="Calibri"/>
                        </a:rPr>
                        <a:t>CLI 重发</a:t>
                      </a:r>
                    </a:p>
                  </a:txBody>
                  <a:tcPr>
                    <a:solidFill>
                      <a:srgbClr val="EBF3FB"/>
                    </a:solidFill>
                  </a:tcPr>
                </a:tc>
              </a:tr>
              <a:tr h="317754">
                <a:tc>
                  <a:txBody>
                    <a:bodyPr wrap="none" lIns="50800" rIns="50800" tIns="25400" bIns="25400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JHAI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l"/>
                      <a:r>
                        <a:rPr sz="850" b="0">
                          <a:solidFill>
                            <a:srgbClr val="1A1A2E"/>
                          </a:solidFill>
                          <a:latin typeface="Calibri"/>
                        </a:rPr>
                        <a:t>HTTP agent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l"/>
                      <a:r>
                        <a:rPr sz="850" b="0">
                          <a:solidFill>
                            <a:srgbClr val="1A1A2E"/>
                          </a:solidFill>
                          <a:latin typeface="Calibri"/>
                        </a:rPr>
                        <a:t>API 心跳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ctr"/>
                      <a:r>
                        <a:rPr sz="850" b="0">
                          <a:solidFill>
                            <a:srgbClr val="1A8A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wrap="none" lIns="50800" rIns="50800" tIns="25400" bIns="25400"/>
                    <a:lstStyle/>
                    <a:p>
                      <a:pPr algn="l"/>
                      <a:r>
                        <a:rPr sz="850" b="0">
                          <a:solidFill>
                            <a:srgbClr val="1A1A2E"/>
                          </a:solidFill>
                          <a:latin typeface="Calibri"/>
                        </a:rPr>
                        <a:t>API Resend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3A6B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6583680"/>
            <a:ext cx="11643055" cy="23774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ctr"/>
            <a:r>
              <a:rPr sz="850" b="0" i="0">
                <a:solidFill>
                  <a:srgbClr val="D6E4F7"/>
                </a:solidFill>
                <a:latin typeface="Calibri"/>
              </a:rPr>
              <a:t>二次开发相对原始 Semaphore  ·  7 设备类型  ·  当前 UI：巡检 / 重发 / 重启 / 重部署  ·  2026-08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