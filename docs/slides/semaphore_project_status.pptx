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A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Semaphore 设备管理平台  —  项目进展汇报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E4F7"/>
                </a:solidFill>
                <a:latin typeface="Calibri"/>
              </a:rPr>
              <a:t>Go Backend + Vue.js Frontend  ·  Ansible Playbooks  ·  WinRM 远程管控  ·  TDengine 时序数据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850392"/>
            <a:ext cx="5848959" cy="2651760"/>
          </a:xfrm>
          <a:prstGeom prst="rect">
            <a:avLst/>
          </a:prstGeom>
          <a:solidFill>
            <a:srgbClr val="F5F8FC"/>
          </a:solidFill>
          <a:ln w="635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850392"/>
            <a:ext cx="5848959" cy="292608"/>
          </a:xfrm>
          <a:prstGeom prst="rect">
            <a:avLst/>
          </a:prstGeom>
          <a:solidFill>
            <a:srgbClr val="275EA6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886968"/>
            <a:ext cx="56660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🏗  平台架构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" y="1179576"/>
            <a:ext cx="5757519" cy="32004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" y="121615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后端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216152"/>
            <a:ext cx="49345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Go 1.24 · 单二进制 ./bin/semaphore · SQLite / MySQL / 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" y="1527048"/>
            <a:ext cx="5757519" cy="32004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" y="1563624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前端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1563624"/>
            <a:ext cx="49345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Vue.js 2 + Vuetify · 嵌入二进制 · WS 实时推送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1874520"/>
            <a:ext cx="5757519" cy="32004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" y="1911096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1911096"/>
            <a:ext cx="49345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Ansible WinRM · strategy: free · forks=50 · 7 设备类型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" y="2221992"/>
            <a:ext cx="5757519" cy="32004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7744" y="225856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数据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2258568"/>
            <a:ext cx="49345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TDengine 时序通道数据 · channel_freshness 新鲜度门禁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2569464"/>
            <a:ext cx="5757519" cy="32004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744" y="260604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调度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2606040"/>
            <a:ext cx="49345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Semaphore Schedules 定时巡检 · Patrol All · Probe TCP 探测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2" y="2916936"/>
            <a:ext cx="5757519" cy="32004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" y="295351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构建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2953512"/>
            <a:ext cx="49345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go-task (Taskfile.yml) · task build:fe → task build:be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8143" y="850392"/>
            <a:ext cx="5848959" cy="2651760"/>
          </a:xfrm>
          <a:prstGeom prst="rect">
            <a:avLst/>
          </a:prstGeom>
          <a:solidFill>
            <a:srgbClr val="F5F8FC"/>
          </a:solidFill>
          <a:ln w="635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8143" y="850392"/>
            <a:ext cx="5848959" cy="292608"/>
          </a:xfrm>
          <a:prstGeom prst="rect">
            <a:avLst/>
          </a:prstGeom>
          <a:solidFill>
            <a:srgbClr val="275EA6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9583" y="886968"/>
            <a:ext cx="56660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📋  设备类型覆盖（7 类）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1295" y="1179576"/>
            <a:ext cx="749808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7871" y="1188720"/>
            <a:ext cx="6766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设备类型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01103" y="1179576"/>
            <a:ext cx="960120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37679" y="1188720"/>
            <a:ext cx="886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管控对象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61223" y="1179576"/>
            <a:ext cx="1188720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7799" y="1188720"/>
            <a:ext cx="1115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状态检测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9943" y="1179576"/>
            <a:ext cx="566928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6519" y="1188720"/>
            <a:ext cx="49377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启停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16871" y="1179576"/>
            <a:ext cx="822960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53447" y="1188720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数据重传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51295" y="1435608"/>
            <a:ext cx="749808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87871" y="1444752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NEWARE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01103" y="1435608"/>
            <a:ext cx="960120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37679" y="1444752"/>
            <a:ext cx="886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uu.exe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61223" y="1435608"/>
            <a:ext cx="1188720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97799" y="144475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进程 + API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9943" y="1435608"/>
            <a:ext cx="566928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6519" y="1444752"/>
            <a:ext cx="493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E7EC8"/>
                </a:solidFill>
                <a:latin typeface="Calibri"/>
              </a:rPr>
              <a:t>✓ 杀 / 任务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16871" y="1435608"/>
            <a:ext cx="822960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3447" y="1444752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—（INI）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51295" y="1709928"/>
            <a:ext cx="749808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87871" y="1719072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LAND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01103" y="1709928"/>
            <a:ext cx="960120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37679" y="1719072"/>
            <a:ext cx="886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LHBTS.exe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61223" y="1709928"/>
            <a:ext cx="1188720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97799" y="171907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3A6B"/>
                </a:solidFill>
                <a:latin typeface="Calibri"/>
              </a:rPr>
              <a:t>QueryStatus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9943" y="1709928"/>
            <a:ext cx="566928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86519" y="1719072"/>
            <a:ext cx="493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E7EC8"/>
                </a:solidFill>
                <a:latin typeface="Calibri"/>
              </a:rPr>
              <a:t>✓ 优雅/计划任务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16871" y="1709928"/>
            <a:ext cx="822960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53447" y="1719072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Redeliver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51295" y="1984248"/>
            <a:ext cx="749808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87871" y="1993392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LANH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01103" y="1984248"/>
            <a:ext cx="960120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37679" y="1993392"/>
            <a:ext cx="886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ccsmon.exe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961223" y="1984248"/>
            <a:ext cx="1188720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97799" y="199339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3A6B"/>
                </a:solidFill>
                <a:latin typeface="Calibri"/>
              </a:rPr>
              <a:t>QueryStatus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49943" y="1984248"/>
            <a:ext cx="566928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86519" y="1993392"/>
            <a:ext cx="493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Ensure 启动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716871" y="1984248"/>
            <a:ext cx="822960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53447" y="1993392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Redeliver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51295" y="2258568"/>
            <a:ext cx="749808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87871" y="2267712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SINEXCEL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001103" y="2258568"/>
            <a:ext cx="960120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37679" y="2267712"/>
            <a:ext cx="886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agent.exe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61223" y="2258568"/>
            <a:ext cx="1188720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97799" y="226771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3A6B"/>
                </a:solidFill>
                <a:latin typeface="Calibri"/>
              </a:rPr>
              <a:t>QueryConfig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9943" y="2258568"/>
            <a:ext cx="566928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86519" y="2267712"/>
            <a:ext cx="493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E7EC8"/>
                </a:solidFill>
                <a:latin typeface="Calibri"/>
              </a:rPr>
              <a:t>✓ 强杀/计划任务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716871" y="2258568"/>
            <a:ext cx="822960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53447" y="2267712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Retransmit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51295" y="2532888"/>
            <a:ext cx="749808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87871" y="2542032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NBT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001103" y="2532888"/>
            <a:ext cx="960120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37679" y="2542032"/>
            <a:ext cx="886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Win 服务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961223" y="2532888"/>
            <a:ext cx="1188720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997799" y="254203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服务 + 心跳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149943" y="2532888"/>
            <a:ext cx="566928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86519" y="2542032"/>
            <a:ext cx="493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E7EC8"/>
                </a:solidFill>
                <a:latin typeface="Calibri"/>
              </a:rPr>
              <a:t>✓ 服务控制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716871" y="2532888"/>
            <a:ext cx="822960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753447" y="2542032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ResetData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51295" y="2807208"/>
            <a:ext cx="749808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87871" y="2816352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DAHUA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001103" y="2807208"/>
            <a:ext cx="960120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037679" y="2816352"/>
            <a:ext cx="886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lims-hist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961223" y="2807208"/>
            <a:ext cx="1188720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997799" y="281635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149943" y="2807208"/>
            <a:ext cx="566928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86519" y="2816352"/>
            <a:ext cx="493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716871" y="2807208"/>
            <a:ext cx="822960" cy="274320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753447" y="2816352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CLI 重发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51295" y="3081528"/>
            <a:ext cx="749808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87871" y="3090672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JHAI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001103" y="3081528"/>
            <a:ext cx="960120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037679" y="3090672"/>
            <a:ext cx="886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HTTP agent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961223" y="3081528"/>
            <a:ext cx="1188720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997799" y="309067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API 心跳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149943" y="3081528"/>
            <a:ext cx="566928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186519" y="3090672"/>
            <a:ext cx="493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E7EC8"/>
                </a:solidFill>
                <a:latin typeface="Calibri"/>
              </a:rPr>
              <a:t>✓ 优雅/计划任务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716871" y="3081528"/>
            <a:ext cx="822960" cy="274320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753447" y="3090672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  <a:latin typeface="Calibri"/>
              </a:rPr>
              <a:t>API Resend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64592" y="3657600"/>
            <a:ext cx="5848959" cy="2121408"/>
          </a:xfrm>
          <a:prstGeom prst="rect">
            <a:avLst/>
          </a:prstGeom>
          <a:solidFill>
            <a:srgbClr val="F5F8FC"/>
          </a:solidFill>
          <a:ln w="635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64592" y="3657600"/>
            <a:ext cx="5848959" cy="292608"/>
          </a:xfrm>
          <a:prstGeom prst="rect">
            <a:avLst/>
          </a:prstGeom>
          <a:solidFill>
            <a:srgbClr val="275EA6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56032" y="3694176"/>
            <a:ext cx="56660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🔧  核心能力矩阵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37744" y="3986784"/>
            <a:ext cx="944346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4320" y="3995928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A1A2E"/>
                </a:solidFill>
                <a:latin typeface="Calibri"/>
              </a:rPr>
              <a:t/>
            </a:r>
          </a:p>
        </p:txBody>
      </p:sp>
      <p:sp>
        <p:nvSpPr>
          <p:cNvPr id="114" name="Rectangle 113"/>
          <p:cNvSpPr/>
          <p:nvPr/>
        </p:nvSpPr>
        <p:spPr>
          <a:xfrm>
            <a:off x="1182090" y="3986784"/>
            <a:ext cx="944346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218666" y="3995928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Patrol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126437" y="3986784"/>
            <a:ext cx="944346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163013" y="3995928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Stop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070783" y="3986784"/>
            <a:ext cx="944346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107359" y="3995928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Restart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015130" y="3986784"/>
            <a:ext cx="944346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051706" y="3995928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Redeploy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959476" y="3986784"/>
            <a:ext cx="944346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996052" y="3995928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Resend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37744" y="4242816"/>
            <a:ext cx="944346" cy="256032"/>
          </a:xfrm>
          <a:prstGeom prst="rect">
            <a:avLst/>
          </a:prstGeom>
          <a:solidFill>
            <a:srgbClr val="1A3A6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74320" y="4251960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NEWARE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2090" y="4242816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218666" y="4251960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126437" y="4242816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163013" y="4251960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070783" y="4242816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107359" y="4251960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015130" y="4242816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051706" y="4251960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959476" y="4242816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996052" y="4251960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A"/>
                </a:solidFill>
                <a:latin typeface="Calibri"/>
              </a:rPr>
              <a:t>—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37744" y="4498848"/>
            <a:ext cx="944346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274320" y="4507992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LAND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182090" y="4498848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218666" y="4507992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126437" y="4498848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2163013" y="4507992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070783" y="4498848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107359" y="4507992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015130" y="4498848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051706" y="4507992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959476" y="4498848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996052" y="4507992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37744" y="4754880"/>
            <a:ext cx="944346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4320" y="4764024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LANH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182090" y="4754880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218666" y="4764024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126437" y="4754880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163013" y="4764024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A"/>
                </a:solidFill>
                <a:latin typeface="Calibri"/>
              </a:rPr>
              <a:t>—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3070783" y="4754880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107359" y="4764024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A"/>
                </a:solidFill>
                <a:latin typeface="Calibri"/>
              </a:rPr>
              <a:t>—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015130" y="4754880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051706" y="4764024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A"/>
                </a:solidFill>
                <a:latin typeface="Calibri"/>
              </a:rPr>
              <a:t>—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959476" y="4754880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996052" y="4764024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37744" y="5010912"/>
            <a:ext cx="944346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74320" y="5020056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SINEXCEL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182090" y="5010912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218666" y="5020056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2126437" y="5010912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2163013" y="5020056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070783" y="5010912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107359" y="5020056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015130" y="5010912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051706" y="5020056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959476" y="5010912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996052" y="5020056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37744" y="5266944"/>
            <a:ext cx="944346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74320" y="5276088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NBT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182090" y="5266944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218666" y="5276088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2126437" y="5266944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2163013" y="5276088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3070783" y="5266944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107359" y="5276088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4015130" y="5266944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051706" y="5276088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4959476" y="5266944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996052" y="5276088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237744" y="5522976"/>
            <a:ext cx="944346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274320" y="5532120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DAHUA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182090" y="5522976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218666" y="5532120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A"/>
                </a:solidFill>
                <a:latin typeface="Calibri"/>
              </a:rPr>
              <a:t>—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126437" y="5522976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2163013" y="5532120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A"/>
                </a:solidFill>
                <a:latin typeface="Calibri"/>
              </a:rPr>
              <a:t>—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3070783" y="5522976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3107359" y="5532120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A"/>
                </a:solidFill>
                <a:latin typeface="Calibri"/>
              </a:rPr>
              <a:t>—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4015130" y="5522976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4051706" y="5532120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A"/>
                </a:solidFill>
                <a:latin typeface="Calibri"/>
              </a:rPr>
              <a:t>—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4959476" y="5522976"/>
            <a:ext cx="944346" cy="256032"/>
          </a:xfrm>
          <a:prstGeom prst="rect">
            <a:avLst/>
          </a:prstGeom>
          <a:solidFill>
            <a:srgbClr val="EBF3FB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4996052" y="5532120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237744" y="5779008"/>
            <a:ext cx="944346" cy="256032"/>
          </a:xfrm>
          <a:prstGeom prst="rect">
            <a:avLst/>
          </a:prstGeom>
          <a:solidFill>
            <a:srgbClr val="275EA6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274320" y="5788152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JHAI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1182090" y="5779008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218666" y="5788152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126437" y="5779008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2163013" y="5788152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3070783" y="5779008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3107359" y="5788152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4015130" y="5779008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4051706" y="5788152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4959476" y="5779008"/>
            <a:ext cx="944346" cy="25603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4996052" y="5788152"/>
            <a:ext cx="87119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8A4A"/>
                </a:solidFill>
                <a:latin typeface="Calibri"/>
              </a:rPr>
              <a:t>✓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6178143" y="3657600"/>
            <a:ext cx="5848959" cy="2121408"/>
          </a:xfrm>
          <a:prstGeom prst="rect">
            <a:avLst/>
          </a:prstGeom>
          <a:solidFill>
            <a:srgbClr val="F5F8FC"/>
          </a:solidFill>
          <a:ln w="635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6178143" y="3657600"/>
            <a:ext cx="5848959" cy="292608"/>
          </a:xfrm>
          <a:prstGeom prst="rect">
            <a:avLst/>
          </a:prstGeom>
          <a:solidFill>
            <a:srgbClr val="275EA6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6269583" y="3694176"/>
            <a:ext cx="56660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🚀  近期关键改进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6178143" y="3986784"/>
            <a:ext cx="5684367" cy="43891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6178143" y="3986784"/>
            <a:ext cx="54864" cy="438912"/>
          </a:xfrm>
          <a:prstGeom prst="rect">
            <a:avLst/>
          </a:prstGeom>
          <a:solidFill>
            <a:srgbClr val="1A8A4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287871" y="4005072"/>
            <a:ext cx="54831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A6B"/>
                </a:solidFill>
                <a:latin typeface="Calibri"/>
              </a:rPr>
              <a:t>strategy: free · forks=50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6287871" y="4187952"/>
            <a:ext cx="54831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55657A"/>
                </a:solidFill>
                <a:latin typeface="Calibri"/>
              </a:rPr>
              <a:t>批量操作并行化，单台 WinRM 挂起不再阻塞整批设备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178143" y="4462272"/>
            <a:ext cx="5684367" cy="43891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178143" y="4462272"/>
            <a:ext cx="54864" cy="438912"/>
          </a:xfrm>
          <a:prstGeom prst="rect">
            <a:avLst/>
          </a:prstGeom>
          <a:solidFill>
            <a:srgbClr val="1A8A4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6287871" y="4480560"/>
            <a:ext cx="54831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A6B"/>
                </a:solidFill>
                <a:latin typeface="Calibri"/>
              </a:rPr>
              <a:t>LANH QueryStatus API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287871" y="4663440"/>
            <a:ext cx="54831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55657A"/>
                </a:solidFill>
                <a:latin typeface="Calibri"/>
              </a:rPr>
              <a:t>Patrol / check_restart 接入 SyncLims QueryStatus，与 LAND 同流程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6178143" y="4937760"/>
            <a:ext cx="5684367" cy="43891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178143" y="4937760"/>
            <a:ext cx="54864" cy="438912"/>
          </a:xfrm>
          <a:prstGeom prst="rect">
            <a:avLst/>
          </a:prstGeom>
          <a:solidFill>
            <a:srgbClr val="1A8A4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6287871" y="4956048"/>
            <a:ext cx="54831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A6B"/>
                </a:solidFill>
                <a:latin typeface="Calibri"/>
              </a:rPr>
              <a:t>任务日志新标签页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287871" y="5138928"/>
            <a:ext cx="54831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55657A"/>
                </a:solidFill>
                <a:latin typeface="Calibri"/>
              </a:rPr>
              <a:t>点击任务链接在新浏览器标签页打开，不遮挡设备列表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178143" y="5413248"/>
            <a:ext cx="5684367" cy="43891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178143" y="5413248"/>
            <a:ext cx="54864" cy="438912"/>
          </a:xfrm>
          <a:prstGeom prst="rect">
            <a:avLst/>
          </a:prstGeom>
          <a:solidFill>
            <a:srgbClr val="1A8A4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6287871" y="5431536"/>
            <a:ext cx="54831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A6B"/>
                </a:solidFill>
                <a:latin typeface="Calibri"/>
              </a:rPr>
              <a:t>DAHUA -mtime-prefilter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6287871" y="5614416"/>
            <a:ext cx="54831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55657A"/>
                </a:solidFill>
                <a:latin typeface="Calibri"/>
              </a:rPr>
              <a:t>lims-hist 默认追加 -mtime-prefilter，大幅提升重发扫描效率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6178143" y="5888736"/>
            <a:ext cx="5684367" cy="43891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6178143" y="5888736"/>
            <a:ext cx="54864" cy="438912"/>
          </a:xfrm>
          <a:prstGeom prst="rect">
            <a:avLst/>
          </a:prstGeom>
          <a:solidFill>
            <a:srgbClr val="1A8A4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287871" y="5907024"/>
            <a:ext cx="54831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A6B"/>
                </a:solidFill>
                <a:latin typeface="Calibri"/>
              </a:rPr>
              <a:t>Kafka TCP 超时修复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287871" y="6089904"/>
            <a:ext cx="54831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55657A"/>
                </a:solidFill>
                <a:latin typeface="Calibri"/>
              </a:rPr>
              <a:t>NEWARE Kafka TCP 探测超时从数小时缩至秒级，不再阻塞 check_restart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6178143" y="6364224"/>
            <a:ext cx="5684367" cy="438912"/>
          </a:xfrm>
          <a:prstGeom prst="rect">
            <a:avLst/>
          </a:prstGeom>
          <a:solidFill>
            <a:srgbClr val="F5F8FC"/>
          </a:solidFill>
          <a:ln w="381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6178143" y="6364224"/>
            <a:ext cx="54864" cy="438912"/>
          </a:xfrm>
          <a:prstGeom prst="rect">
            <a:avLst/>
          </a:prstGeom>
          <a:solidFill>
            <a:srgbClr val="1A8A4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6287871" y="6382512"/>
            <a:ext cx="54831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A6B"/>
                </a:solidFill>
                <a:latin typeface="Calibri"/>
              </a:rPr>
              <a:t>WinRM Top 5 诊断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6287871" y="6565392"/>
            <a:ext cx="54831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55657A"/>
                </a:solidFill>
                <a:latin typeface="Calibri"/>
              </a:rPr>
              <a:t>内置 CPU / 内存占用 Top 5 进程查看，辅助现场排障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A3A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274320" y="6565392"/>
            <a:ext cx="116430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D6E4F7"/>
                </a:solidFill>
                <a:latin typeface="Calibri"/>
              </a:rPr>
              <a:t>30 Playbooks  ·  38 Shared Tasks  ·  9 PowerShell Helpers  ·  7 设备类型  ·  develop 分支稳定  ·  2026-08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